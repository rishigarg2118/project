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6091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37160"/>
          </a:xfrm>
          <a:prstGeom prst="rect">
            <a:avLst/>
          </a:prstGeom>
          <a:solidFill>
            <a:srgbClr val="8B5CF6"/>
          </a:solidFill>
          <a:ln/>
        </p:spPr>
      </p:sp>
      <p:sp>
        <p:nvSpPr>
          <p:cNvPr id="3" name="Text 1"/>
          <p:cNvSpPr/>
          <p:nvPr/>
        </p:nvSpPr>
        <p:spPr>
          <a:xfrm>
            <a:off x="914400" y="1828800"/>
            <a:ext cx="10058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i-SOFTZONE</a:t>
            </a:r>
            <a:endParaRPr lang="en-US" sz="6000" dirty="0"/>
          </a:p>
        </p:txBody>
      </p:sp>
      <p:sp>
        <p:nvSpPr>
          <p:cNvPr id="4" name="Text 2"/>
          <p:cNvSpPr/>
          <p:nvPr/>
        </p:nvSpPr>
        <p:spPr>
          <a:xfrm>
            <a:off x="914400" y="27432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6B6D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Enterprise Employee Portal &amp; Operations Dashboard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914400" y="3474720"/>
            <a:ext cx="5486400" cy="18288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6" name="Text 4"/>
          <p:cNvSpPr/>
          <p:nvPr/>
        </p:nvSpPr>
        <p:spPr>
          <a:xfrm>
            <a:off x="914400" y="374904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Project Handover &amp; Technical Executive Presentation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914400" y="4389120"/>
            <a:ext cx="4572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3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Prepared for: Senior Leadership Team</a:t>
            </a:r>
            <a:endParaRPr lang="en-US" sz="130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3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Date: June 2026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6091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45720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8B5CF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EXECUTIVE SUMMARY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731520" y="960120"/>
            <a:ext cx="1371600" cy="36576"/>
          </a:xfrm>
          <a:prstGeom prst="rect">
            <a:avLst/>
          </a:prstGeom>
          <a:solidFill>
            <a:srgbClr val="06B6D4"/>
          </a:solidFill>
          <a:ln/>
        </p:spPr>
      </p:sp>
      <p:sp>
        <p:nvSpPr>
          <p:cNvPr id="4" name="Text 2"/>
          <p:cNvSpPr/>
          <p:nvPr/>
        </p:nvSpPr>
        <p:spPr>
          <a:xfrm>
            <a:off x="731520" y="1371600"/>
            <a:ext cx="5029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6B6D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Digitalizing Employee Operations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731520" y="1737360"/>
            <a:ext cx="5029200" cy="3840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2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i-SOFTZONE portal is a complete, containerized HR &amp; IT asset management system designed to automate daily internal procedures, verify attendance compliance, and replace disjointed email tracks.</a:t>
            </a:r>
            <a:endParaRPr lang="en-US" sz="1300" dirty="0"/>
          </a:p>
          <a:p>
            <a:pPr indent="0" marL="0">
              <a:lnSpc>
                <a:spcPts val="2200"/>
              </a:lnSpc>
              <a:buNone/>
            </a:pPr>
            <a:endParaRPr lang="en-US" sz="1300" dirty="0"/>
          </a:p>
          <a:p>
            <a:pPr indent="0" marL="0">
              <a:lnSpc>
                <a:spcPts val="22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Efficiency Boost: Consolidated leave approval flow and hardware auditing dashboard.</a:t>
            </a:r>
            <a:endParaRPr lang="en-US" sz="1300" dirty="0"/>
          </a:p>
          <a:p>
            <a:pPr indent="0" marL="0">
              <a:lnSpc>
                <a:spcPts val="22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Geolocation Compliance: Captures client-side network geofencing coordinates.</a:t>
            </a:r>
            <a:endParaRPr lang="en-US" sz="1300" dirty="0"/>
          </a:p>
          <a:p>
            <a:pPr indent="0" marL="0">
              <a:lnSpc>
                <a:spcPts val="22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Scalable Tech Stack: Ready for cloud scaling with Docker, Node.js, and PostgreSQL.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6400800" y="1371600"/>
            <a:ext cx="5029200" cy="4206240"/>
          </a:xfrm>
          <a:prstGeom prst="roundRect">
            <a:avLst/>
          </a:prstGeom>
          <a:solidFill>
            <a:srgbClr val="0F172A"/>
          </a:solidFill>
          <a:ln w="19050">
            <a:solidFill>
              <a:srgbClr val="1E293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675120" y="1645920"/>
            <a:ext cx="4480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6B6D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PLATFORM SEED DATABASE STATS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6675120" y="2103120"/>
            <a:ext cx="4480560" cy="3200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8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11 Active Employee Profiles (with complete designations)</a:t>
            </a:r>
            <a:endParaRPr lang="en-US" sz="1300" dirty="0"/>
          </a:p>
          <a:p>
            <a:pPr indent="0" marL="0">
              <a:lnSpc>
                <a:spcPts val="28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10 Hardware Assets (tracked by serial numbers and state)</a:t>
            </a:r>
            <a:endParaRPr lang="en-US" sz="1300" dirty="0"/>
          </a:p>
          <a:p>
            <a:pPr indent="0" marL="0">
              <a:lnSpc>
                <a:spcPts val="28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8 Operational Departments (Preconfigured org categories)</a:t>
            </a:r>
            <a:endParaRPr lang="en-US" sz="1300" dirty="0"/>
          </a:p>
          <a:p>
            <a:pPr indent="0" marL="0">
              <a:lnSpc>
                <a:spcPts val="28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10 Technical Master Skills (linked to staff records)</a:t>
            </a:r>
            <a:endParaRPr lang="en-US" sz="1300" dirty="0"/>
          </a:p>
          <a:p>
            <a:pPr indent="0" marL="0">
              <a:lnSpc>
                <a:spcPts val="28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7-Day Attendance Logs (mock history for instant reports)</a:t>
            </a:r>
            <a:endParaRPr lang="en-US" sz="1300" dirty="0"/>
          </a:p>
          <a:p>
            <a:pPr indent="0" marL="0">
              <a:lnSpc>
                <a:spcPts val="28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Centralized Audit Trail (captures leave approvals logs)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6091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45720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8B5CF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CORE CAPABILITIES &amp; MODULES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731520" y="960120"/>
            <a:ext cx="1371600" cy="36576"/>
          </a:xfrm>
          <a:prstGeom prst="rect">
            <a:avLst/>
          </a:prstGeom>
          <a:solidFill>
            <a:srgbClr val="06B6D4"/>
          </a:solidFill>
          <a:ln/>
        </p:spPr>
      </p:sp>
      <p:sp>
        <p:nvSpPr>
          <p:cNvPr id="4" name="Shape 2"/>
          <p:cNvSpPr/>
          <p:nvPr/>
        </p:nvSpPr>
        <p:spPr>
          <a:xfrm>
            <a:off x="731520" y="1371600"/>
            <a:ext cx="3291840" cy="4206240"/>
          </a:xfrm>
          <a:prstGeom prst="roundRect">
            <a:avLst/>
          </a:prstGeom>
          <a:solidFill>
            <a:srgbClr val="0F172A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14400" y="1554480"/>
            <a:ext cx="2926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6B6D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⏰ Attendance Module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914400" y="2011680"/>
            <a:ext cx="2926080" cy="3291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Simulated Geofencing: Verifies connection coordinates at check-in.</a:t>
            </a:r>
            <a:endParaRPr lang="en-US" sz="1300" dirty="0"/>
          </a:p>
          <a:p>
            <a:pPr indent="0" marL="0">
              <a:lnSpc>
                <a:spcPts val="2000"/>
              </a:lnSpc>
              <a:buNone/>
            </a:pPr>
            <a:endParaRPr lang="en-US" sz="1300" dirty="0"/>
          </a:p>
          <a:p>
            <a:pPr indent="0" marL="0">
              <a:lnSpc>
                <a:spcPts val="2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Live Sessions: Track active working duration real-time.</a:t>
            </a:r>
            <a:endParaRPr lang="en-US" sz="1300" dirty="0"/>
          </a:p>
          <a:p>
            <a:pPr indent="0" marL="0">
              <a:lnSpc>
                <a:spcPts val="2000"/>
              </a:lnSpc>
              <a:buNone/>
            </a:pPr>
            <a:endParaRPr lang="en-US" sz="1300" dirty="0"/>
          </a:p>
          <a:p>
            <a:pPr indent="0" marL="0">
              <a:lnSpc>
                <a:spcPts val="2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Staff History Logs: Admins can inspect check-in/out logs per employee.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4389120" y="1371600"/>
            <a:ext cx="3291840" cy="4206240"/>
          </a:xfrm>
          <a:prstGeom prst="roundRect">
            <a:avLst/>
          </a:prstGeom>
          <a:solidFill>
            <a:srgbClr val="0F172A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72000" y="1554480"/>
            <a:ext cx="2926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6B6D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🌴 Leave Pipeline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4572000" y="2011680"/>
            <a:ext cx="2926080" cy="3291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Ledger System: Preloaded Sick, Casual, and Earned balances.</a:t>
            </a:r>
            <a:endParaRPr lang="en-US" sz="1300" dirty="0"/>
          </a:p>
          <a:p>
            <a:pPr indent="0" marL="0">
              <a:lnSpc>
                <a:spcPts val="2000"/>
              </a:lnSpc>
              <a:buNone/>
            </a:pPr>
            <a:endParaRPr lang="en-US" sz="1300" dirty="0"/>
          </a:p>
          <a:p>
            <a:pPr indent="0" marL="0">
              <a:lnSpc>
                <a:spcPts val="2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Multi-stage Review: Managers and HR approve or reject requests.</a:t>
            </a:r>
            <a:endParaRPr lang="en-US" sz="1300" dirty="0"/>
          </a:p>
          <a:p>
            <a:pPr indent="0" marL="0">
              <a:lnSpc>
                <a:spcPts val="2000"/>
              </a:lnSpc>
              <a:buNone/>
            </a:pPr>
            <a:endParaRPr lang="en-US" sz="1300" dirty="0"/>
          </a:p>
          <a:p>
            <a:pPr indent="0" marL="0">
              <a:lnSpc>
                <a:spcPts val="2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Audit Trail: All reviews are logged to transactional histories.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8046720" y="1371600"/>
            <a:ext cx="3291840" cy="4206240"/>
          </a:xfrm>
          <a:prstGeom prst="roundRect">
            <a:avLst/>
          </a:prstGeom>
          <a:solidFill>
            <a:srgbClr val="0F172A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229600" y="1554480"/>
            <a:ext cx="2926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6B6D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💻 Hardware Auditing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8229600" y="2011680"/>
            <a:ext cx="2926080" cy="3291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Serial Tracking: Unique identifiers prevent equipment loss.</a:t>
            </a:r>
            <a:endParaRPr lang="en-US" sz="1300" dirty="0"/>
          </a:p>
          <a:p>
            <a:pPr indent="0" marL="0">
              <a:lnSpc>
                <a:spcPts val="2000"/>
              </a:lnSpc>
              <a:buNone/>
            </a:pPr>
            <a:endParaRPr lang="en-US" sz="1300" dirty="0"/>
          </a:p>
          <a:p>
            <a:pPr indent="0" marL="0">
              <a:lnSpc>
                <a:spcPts val="2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Assignment History: Tracks allocated dates and returned dates.</a:t>
            </a:r>
            <a:endParaRPr lang="en-US" sz="1300" dirty="0"/>
          </a:p>
          <a:p>
            <a:pPr indent="0" marL="0">
              <a:lnSpc>
                <a:spcPts val="2000"/>
              </a:lnSpc>
              <a:buNone/>
            </a:pPr>
            <a:endParaRPr lang="en-US" sz="1300" dirty="0"/>
          </a:p>
          <a:p>
            <a:pPr indent="0" marL="0">
              <a:lnSpc>
                <a:spcPts val="2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State Management: Flags items under Repair or Available in stock.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6091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45720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8B5CF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ARCHITECTURE &amp; INTEGRATION STACK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731520" y="960120"/>
            <a:ext cx="1371600" cy="36576"/>
          </a:xfrm>
          <a:prstGeom prst="rect">
            <a:avLst/>
          </a:prstGeom>
          <a:solidFill>
            <a:srgbClr val="06B6D4"/>
          </a:solidFill>
          <a:ln/>
        </p:spPr>
      </p:sp>
      <p:sp>
        <p:nvSpPr>
          <p:cNvPr id="4" name="Text 2"/>
          <p:cNvSpPr/>
          <p:nvPr/>
        </p:nvSpPr>
        <p:spPr>
          <a:xfrm>
            <a:off x="731520" y="1280160"/>
            <a:ext cx="5029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6B6D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Technology Infrastructure Layers</a:t>
            </a:r>
            <a:endParaRPr lang="en-US" sz="18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31520" y="1737360"/>
          <a:ext cx="5029200" cy="3840480"/>
        </p:xfrm>
        <a:graphic>
          <a:graphicData uri="http://schemas.openxmlformats.org/drawingml/2006/table">
            <a:tbl>
              <a:tblPr/>
              <a:tblGrid>
                <a:gridCol w="2514600"/>
                <a:gridCol w="2514600"/>
              </a:tblGrid>
              <a:tr h="7680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06B6D4"/>
                          </a:solidFill>
                        </a:rPr>
                        <a:t>Layer</a:t>
                      </a:r>
                      <a:endParaRPr lang="en-US" sz="12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06B6D4"/>
                          </a:solidFill>
                        </a:rPr>
                        <a:t>Technology Details</a:t>
                      </a:r>
                      <a:endParaRPr lang="en-US" sz="12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</a:tr>
              <a:tr h="7680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FFFFFF"/>
                          </a:solidFill>
                        </a:rPr>
                        <a:t>Frontend UI</a:t>
                      </a:r>
                      <a:endParaRPr lang="en-US" sz="12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FFFFFF"/>
                          </a:solidFill>
                        </a:rPr>
                        <a:t>React JS + Vite (Premium glassmorphism, Recharts charts)</a:t>
                      </a:r>
                      <a:endParaRPr lang="en-US" sz="12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</a:tr>
              <a:tr h="7680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FFFFFF"/>
                          </a:solidFill>
                        </a:rPr>
                        <a:t>API Engine</a:t>
                      </a:r>
                      <a:endParaRPr lang="en-US" sz="12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FFFFFF"/>
                          </a:solidFill>
                        </a:rPr>
                        <a:t>Node.js + Express (Versioned v1 endpoints, Joi validation)</a:t>
                      </a:r>
                      <a:endParaRPr lang="en-US" sz="12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</a:tr>
              <a:tr h="7680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FFFFFF"/>
                          </a:solidFill>
                        </a:rPr>
                        <a:t>Database</a:t>
                      </a:r>
                      <a:endParaRPr lang="en-US" sz="12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FFFFFF"/>
                          </a:solidFill>
                        </a:rPr>
                        <a:t>PostgreSQL (Relational db, JSONB audit logs, indexes)</a:t>
                      </a:r>
                      <a:endParaRPr lang="en-US" sz="12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</a:tr>
              <a:tr h="7680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FFFFFF"/>
                          </a:solidFill>
                        </a:rPr>
                        <a:t>Proxy Host</a:t>
                      </a:r>
                      <a:endParaRPr lang="en-US" sz="12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FFFFFF"/>
                          </a:solidFill>
                        </a:rPr>
                        <a:t>Nginx Web Server (Proxy pass for /api, static file router)</a:t>
                      </a:r>
                      <a:endParaRPr lang="en-US" sz="12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6217920" y="1737360"/>
            <a:ext cx="5212080" cy="3840480"/>
          </a:xfrm>
          <a:prstGeom prst="roundRect">
            <a:avLst/>
          </a:prstGeom>
          <a:solidFill>
            <a:srgbClr val="0F172A"/>
          </a:solidFill>
          <a:ln w="19050">
            <a:solidFill>
              <a:srgbClr val="1E293B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6492240" y="1920240"/>
            <a:ext cx="4663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6B6D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API REQUEST LIFE CYCLE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6492240" y="2286000"/>
            <a:ext cx="4663440" cy="3108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2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 User triggers clicks/forms in the React UI</a:t>
            </a:r>
            <a:endParaRPr lang="en-US" sz="125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2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 Nginx routes /api requests to Node Express server container</a:t>
            </a:r>
            <a:endParaRPr lang="en-US" sz="125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2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 Auth checks (JWT tokens &amp; RBAC roles) guard endpoints</a:t>
            </a:r>
            <a:endParaRPr lang="en-US" sz="125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2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 Joi validators check incoming payload schemas</a:t>
            </a:r>
            <a:endParaRPr lang="en-US" sz="125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2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5. Controllers pass data parameters to Repository SQL layer</a:t>
            </a:r>
            <a:endParaRPr lang="en-US" sz="125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2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6. PostgreSQL commits transaction and returns rowset data</a:t>
            </a:r>
            <a:endParaRPr lang="en-US" sz="125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2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7. JSON responses return back to client-side Recharts views</a:t>
            </a:r>
            <a:endParaRPr lang="en-US" sz="12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6091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45720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8B5CF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RELATIONAL DATABASE SCHEMA DESIGN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731520" y="960120"/>
            <a:ext cx="1371600" cy="36576"/>
          </a:xfrm>
          <a:prstGeom prst="rect">
            <a:avLst/>
          </a:prstGeom>
          <a:solidFill>
            <a:srgbClr val="06B6D4"/>
          </a:solidFill>
          <a:ln/>
        </p:spPr>
      </p:sp>
      <p:sp>
        <p:nvSpPr>
          <p:cNvPr id="4" name="Shape 2"/>
          <p:cNvSpPr/>
          <p:nvPr/>
        </p:nvSpPr>
        <p:spPr>
          <a:xfrm>
            <a:off x="731520" y="1371600"/>
            <a:ext cx="5029200" cy="4206240"/>
          </a:xfrm>
          <a:prstGeom prst="roundRect">
            <a:avLst/>
          </a:prstGeom>
          <a:solidFill>
            <a:srgbClr val="0F172A"/>
          </a:solidFill>
          <a:ln w="19050">
            <a:solidFill>
              <a:srgbClr val="1E293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005840" y="1554480"/>
            <a:ext cx="4480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6B6D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👥 Core Employee &amp; Auth Tables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1005840" y="2011680"/>
            <a:ext cx="4480560" cy="3291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2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users:</a:t>
            </a:r>
            <a:endParaRPr lang="en-US" sz="1300" dirty="0"/>
          </a:p>
          <a:p>
            <a:pPr indent="0" marL="0">
              <a:lnSpc>
                <a:spcPts val="22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- Columns: id, name, email, password, role</a:t>
            </a:r>
            <a:endParaRPr lang="en-US" sz="1300" dirty="0"/>
          </a:p>
          <a:p>
            <a:pPr indent="0" marL="0">
              <a:lnSpc>
                <a:spcPts val="22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employees:</a:t>
            </a:r>
            <a:endParaRPr lang="en-US" sz="1300" dirty="0"/>
          </a:p>
          <a:p>
            <a:pPr indent="0" marL="0">
              <a:lnSpc>
                <a:spcPts val="22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- Columns: id, user_id, department_id, phone, address, designation, salary</a:t>
            </a:r>
            <a:endParaRPr lang="en-US" sz="1300" dirty="0"/>
          </a:p>
          <a:p>
            <a:pPr indent="0" marL="0">
              <a:lnSpc>
                <a:spcPts val="22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departments:</a:t>
            </a:r>
            <a:endParaRPr lang="en-US" sz="1300" dirty="0"/>
          </a:p>
          <a:p>
            <a:pPr indent="0" marL="0">
              <a:lnSpc>
                <a:spcPts val="22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- Columns: id, department_name (unique)</a:t>
            </a:r>
            <a:endParaRPr lang="en-US" sz="1300" dirty="0"/>
          </a:p>
          <a:p>
            <a:pPr indent="0" marL="0">
              <a:lnSpc>
                <a:spcPts val="22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skills:</a:t>
            </a:r>
            <a:endParaRPr lang="en-US" sz="1300" dirty="0"/>
          </a:p>
          <a:p>
            <a:pPr indent="0" marL="0">
              <a:lnSpc>
                <a:spcPts val="22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- Columns: id, skill_name (unique)</a:t>
            </a:r>
            <a:endParaRPr lang="en-US" sz="1300" dirty="0"/>
          </a:p>
          <a:p>
            <a:pPr indent="0" marL="0">
              <a:lnSpc>
                <a:spcPts val="22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employee_skills:</a:t>
            </a:r>
            <a:endParaRPr lang="en-US" sz="1300" dirty="0"/>
          </a:p>
          <a:p>
            <a:pPr indent="0" marL="0">
              <a:lnSpc>
                <a:spcPts val="22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- Mapping table for employee skills set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6400800" y="1371600"/>
            <a:ext cx="5029200" cy="4206240"/>
          </a:xfrm>
          <a:prstGeom prst="roundRect">
            <a:avLst/>
          </a:prstGeom>
          <a:solidFill>
            <a:srgbClr val="0F172A"/>
          </a:solidFill>
          <a:ln w="19050">
            <a:solidFill>
              <a:srgbClr val="1E293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675120" y="1554480"/>
            <a:ext cx="4480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6B6D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🌴 Leaves, Assets &amp; Logs Tables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6675120" y="2011680"/>
            <a:ext cx="4480560" cy="3291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2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leaves &amp; leave_balances:</a:t>
            </a:r>
            <a:endParaRPr lang="en-US" sz="1300" dirty="0"/>
          </a:p>
          <a:p>
            <a:pPr indent="0" marL="0">
              <a:lnSpc>
                <a:spcPts val="22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- Fields: employee_id, casual_leaves, sick_leaves, earned_leaves</a:t>
            </a:r>
            <a:endParaRPr lang="en-US" sz="1300" dirty="0"/>
          </a:p>
          <a:p>
            <a:pPr indent="0" marL="0">
              <a:lnSpc>
                <a:spcPts val="22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approval_history:</a:t>
            </a:r>
            <a:endParaRPr lang="en-US" sz="1300" dirty="0"/>
          </a:p>
          <a:p>
            <a:pPr indent="0" marL="0">
              <a:lnSpc>
                <a:spcPts val="22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- Audit table containing leave approval records</a:t>
            </a:r>
            <a:endParaRPr lang="en-US" sz="1300" dirty="0"/>
          </a:p>
          <a:p>
            <a:pPr indent="0" marL="0">
              <a:lnSpc>
                <a:spcPts val="22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attendance:</a:t>
            </a:r>
            <a:endParaRPr lang="en-US" sz="1300" dirty="0"/>
          </a:p>
          <a:p>
            <a:pPr indent="0" marL="0">
              <a:lnSpc>
                <a:spcPts val="22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- Columns: employee_id, check_in_time, check_out_time, location, notes, worked_hours</a:t>
            </a:r>
            <a:endParaRPr lang="en-US" sz="1300" dirty="0"/>
          </a:p>
          <a:p>
            <a:pPr indent="0" marL="0">
              <a:lnSpc>
                <a:spcPts val="22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assets &amp; asset_allocations:</a:t>
            </a:r>
            <a:endParaRPr lang="en-US" sz="1300" dirty="0"/>
          </a:p>
          <a:p>
            <a:pPr indent="0" marL="0">
              <a:lnSpc>
                <a:spcPts val="22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- Tracks IT hardware serial distribution and history log</a:t>
            </a:r>
            <a:endParaRPr lang="en-US" sz="13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6091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45720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8B5CF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PRODUCTION DEPLOYMENT &amp; LIVE STATUS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731520" y="960120"/>
            <a:ext cx="1371600" cy="36576"/>
          </a:xfrm>
          <a:prstGeom prst="rect">
            <a:avLst/>
          </a:prstGeom>
          <a:solidFill>
            <a:srgbClr val="06B6D4"/>
          </a:solidFill>
          <a:ln/>
        </p:spPr>
      </p:sp>
      <p:sp>
        <p:nvSpPr>
          <p:cNvPr id="4" name="Shape 2"/>
          <p:cNvSpPr/>
          <p:nvPr/>
        </p:nvSpPr>
        <p:spPr>
          <a:xfrm>
            <a:off x="731520" y="1371600"/>
            <a:ext cx="4937760" cy="4206240"/>
          </a:xfrm>
          <a:prstGeom prst="roundRect">
            <a:avLst/>
          </a:prstGeom>
          <a:solidFill>
            <a:srgbClr val="0F172A"/>
          </a:solidFill>
          <a:ln w="19050">
            <a:solidFill>
              <a:srgbClr val="1E293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005840" y="1645920"/>
            <a:ext cx="4389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6B6D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⚛️ Frontend Host: Vercel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1005840" y="2103120"/>
            <a:ext cx="4389120" cy="3108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200"/>
              </a:lnSpc>
              <a:buNone/>
            </a:pPr>
            <a:r>
              <a:rPr lang="en-US" sz="13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Live URL: https://i-soft-zone-project-1.vercel.app</a:t>
            </a:r>
            <a:endParaRPr lang="en-US" sz="1350" dirty="0"/>
          </a:p>
          <a:p>
            <a:pPr indent="0" marL="0">
              <a:lnSpc>
                <a:spcPts val="2200"/>
              </a:lnSpc>
              <a:buNone/>
            </a:pPr>
            <a:endParaRPr lang="en-US" sz="1350" dirty="0"/>
          </a:p>
          <a:p>
            <a:pPr indent="0" marL="0">
              <a:lnSpc>
                <a:spcPts val="2200"/>
              </a:lnSpc>
              <a:buNone/>
            </a:pPr>
            <a:r>
              <a:rPr lang="en-US" sz="13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Router Fix: Custom vercel.json SPA rewrite rules configured to bypass direct-navigation 404 errors.</a:t>
            </a:r>
            <a:endParaRPr lang="en-US" sz="1350" dirty="0"/>
          </a:p>
          <a:p>
            <a:pPr indent="0" marL="0">
              <a:lnSpc>
                <a:spcPts val="2200"/>
              </a:lnSpc>
              <a:buNone/>
            </a:pPr>
            <a:endParaRPr lang="en-US" sz="1350" dirty="0"/>
          </a:p>
          <a:p>
            <a:pPr indent="0" marL="0">
              <a:lnSpc>
                <a:spcPts val="2200"/>
              </a:lnSpc>
              <a:buNone/>
            </a:pPr>
            <a:r>
              <a:rPr lang="en-US" sz="13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API Pathing: Global Axios baseURL reads VITE_API_URL environment variable dynamically.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6400800" y="1371600"/>
            <a:ext cx="5029200" cy="4206240"/>
          </a:xfrm>
          <a:prstGeom prst="roundRect">
            <a:avLst/>
          </a:prstGeom>
          <a:solidFill>
            <a:srgbClr val="0F172A"/>
          </a:solidFill>
          <a:ln w="19050">
            <a:solidFill>
              <a:srgbClr val="1E293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675120" y="1645920"/>
            <a:ext cx="4480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6B6D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🟢 Backend API Host: Render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6675120" y="2103120"/>
            <a:ext cx="4480560" cy="3108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200"/>
              </a:lnSpc>
              <a:buNone/>
            </a:pPr>
            <a:r>
              <a:rPr lang="en-US" sz="13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Live URL: https://project-mcz5.onrender.com</a:t>
            </a:r>
            <a:endParaRPr lang="en-US" sz="1350" dirty="0"/>
          </a:p>
          <a:p>
            <a:pPr indent="0" marL="0">
              <a:lnSpc>
                <a:spcPts val="2200"/>
              </a:lnSpc>
              <a:buNone/>
            </a:pPr>
            <a:endParaRPr lang="en-US" sz="1350" dirty="0"/>
          </a:p>
          <a:p>
            <a:pPr indent="0" marL="0">
              <a:lnSpc>
                <a:spcPts val="2200"/>
              </a:lnSpc>
              <a:buNone/>
            </a:pPr>
            <a:r>
              <a:rPr lang="en-US" sz="13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Database Setup: Render PostgreSQL database connected.</a:t>
            </a:r>
            <a:endParaRPr lang="en-US" sz="1350" dirty="0"/>
          </a:p>
          <a:p>
            <a:pPr indent="0" marL="0">
              <a:lnSpc>
                <a:spcPts val="2200"/>
              </a:lnSpc>
              <a:buNone/>
            </a:pPr>
            <a:endParaRPr lang="en-US" sz="1350" dirty="0"/>
          </a:p>
          <a:p>
            <a:pPr indent="0" marL="0">
              <a:lnSpc>
                <a:spcPts val="2200"/>
              </a:lnSpc>
              <a:buNone/>
            </a:pPr>
            <a:r>
              <a:rPr lang="en-US" sz="13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SSL Settings: Appended ?ssl=true to connection string for required secure database handshakes.</a:t>
            </a:r>
            <a:endParaRPr lang="en-US" sz="13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6091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45720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8B5CF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SECURITY HARDENING &amp; BEST PRACTICES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731520" y="960120"/>
            <a:ext cx="1371600" cy="36576"/>
          </a:xfrm>
          <a:prstGeom prst="rect">
            <a:avLst/>
          </a:prstGeom>
          <a:solidFill>
            <a:srgbClr val="06B6D4"/>
          </a:solidFill>
          <a:ln/>
        </p:spPr>
      </p:sp>
      <p:sp>
        <p:nvSpPr>
          <p:cNvPr id="4" name="Text 2"/>
          <p:cNvSpPr/>
          <p:nvPr/>
        </p:nvSpPr>
        <p:spPr>
          <a:xfrm>
            <a:off x="731520" y="1280160"/>
            <a:ext cx="5029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6B6D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Network-level Hardening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731520" y="1737360"/>
            <a:ext cx="5029200" cy="3840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200"/>
              </a:lnSpc>
              <a:buNone/>
            </a:pPr>
            <a:r>
              <a:rPr lang="en-US" sz="13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API Rate Limits: Enforces limits of 100 requests/15 mins on Auth, and 1000 requests/15 mins on API endpoints to prevent DDoS.</a:t>
            </a:r>
            <a:endParaRPr lang="en-US" sz="1350" dirty="0"/>
          </a:p>
          <a:p>
            <a:pPr indent="0" marL="0">
              <a:lnSpc>
                <a:spcPts val="2200"/>
              </a:lnSpc>
              <a:buNone/>
            </a:pPr>
            <a:endParaRPr lang="en-US" sz="1350" dirty="0"/>
          </a:p>
          <a:p>
            <a:pPr indent="0" marL="0">
              <a:lnSpc>
                <a:spcPts val="2200"/>
              </a:lnSpc>
              <a:buNone/>
            </a:pPr>
            <a:r>
              <a:rPr lang="en-US" sz="13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Helmet Security headers: Integrates protective HTTP headers against XSS attacks, clickjacking, and mime-types sniffing.</a:t>
            </a:r>
            <a:endParaRPr lang="en-US" sz="1350" dirty="0"/>
          </a:p>
          <a:p>
            <a:pPr indent="0" marL="0">
              <a:lnSpc>
                <a:spcPts val="2200"/>
              </a:lnSpc>
              <a:buNone/>
            </a:pPr>
            <a:endParaRPr lang="en-US" sz="1350" dirty="0"/>
          </a:p>
          <a:p>
            <a:pPr indent="0" marL="0">
              <a:lnSpc>
                <a:spcPts val="2200"/>
              </a:lnSpc>
              <a:buNone/>
            </a:pPr>
            <a:r>
              <a:rPr lang="en-US" sz="13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CORS Security: Lock API requests to only accept configured live domains.</a:t>
            </a:r>
            <a:endParaRPr lang="en-US" sz="1350" dirty="0"/>
          </a:p>
        </p:txBody>
      </p:sp>
      <p:sp>
        <p:nvSpPr>
          <p:cNvPr id="6" name="Text 4"/>
          <p:cNvSpPr/>
          <p:nvPr/>
        </p:nvSpPr>
        <p:spPr>
          <a:xfrm>
            <a:off x="6400800" y="1280160"/>
            <a:ext cx="5029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6B6D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Data Layer Hardening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6400800" y="1737360"/>
            <a:ext cx="5029200" cy="3840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200"/>
              </a:lnSpc>
              <a:buNone/>
            </a:pPr>
            <a:r>
              <a:rPr lang="en-US" sz="13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Bcrypt Hashing: Secure Bcrypt salt rounds hash passwords before write transactions.</a:t>
            </a:r>
            <a:endParaRPr lang="en-US" sz="1350" dirty="0"/>
          </a:p>
          <a:p>
            <a:pPr indent="0" marL="0">
              <a:lnSpc>
                <a:spcPts val="2200"/>
              </a:lnSpc>
              <a:buNone/>
            </a:pPr>
            <a:endParaRPr lang="en-US" sz="1350" dirty="0"/>
          </a:p>
          <a:p>
            <a:pPr indent="0" marL="0">
              <a:lnSpc>
                <a:spcPts val="2200"/>
              </a:lnSpc>
              <a:buNone/>
            </a:pPr>
            <a:r>
              <a:rPr lang="en-US" sz="13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Parameterized Queries: All database select/insert/update actions are fully parameterized to mitigate SQL injections.</a:t>
            </a:r>
            <a:endParaRPr lang="en-US" sz="1350" dirty="0"/>
          </a:p>
          <a:p>
            <a:pPr indent="0" marL="0">
              <a:lnSpc>
                <a:spcPts val="2200"/>
              </a:lnSpc>
              <a:buNone/>
            </a:pPr>
            <a:endParaRPr lang="en-US" sz="1350" dirty="0"/>
          </a:p>
          <a:p>
            <a:pPr indent="0" marL="0">
              <a:lnSpc>
                <a:spcPts val="2200"/>
              </a:lnSpc>
              <a:buNone/>
            </a:pPr>
            <a:r>
              <a:rPr lang="en-US" sz="13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Joi Schema Check: Middleware validation intercepts requests to ensure incoming datatypes match schemas.</a:t>
            </a:r>
            <a:endParaRPr lang="en-US" sz="13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6091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45720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8B5CF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PROJECT ROADMAP &amp; FUTURE SCOPE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731520" y="960120"/>
            <a:ext cx="1371600" cy="36576"/>
          </a:xfrm>
          <a:prstGeom prst="rect">
            <a:avLst/>
          </a:prstGeom>
          <a:solidFill>
            <a:srgbClr val="06B6D4"/>
          </a:solidFill>
          <a:ln/>
        </p:spPr>
      </p:sp>
      <p:sp>
        <p:nvSpPr>
          <p:cNvPr id="4" name="Shape 2"/>
          <p:cNvSpPr/>
          <p:nvPr/>
        </p:nvSpPr>
        <p:spPr>
          <a:xfrm>
            <a:off x="731520" y="1645920"/>
            <a:ext cx="3291840" cy="3840480"/>
          </a:xfrm>
          <a:prstGeom prst="roundRect">
            <a:avLst/>
          </a:prstGeom>
          <a:solidFill>
            <a:srgbClr val="0F172A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14400" y="1920240"/>
            <a:ext cx="2926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6B6D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📅 Phase 1 (Q3 2026)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914400" y="2377440"/>
            <a:ext cx="2926080" cy="2926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Salary Slips Module:</a:t>
            </a:r>
            <a:endParaRPr lang="en-US" sz="1300" dirty="0"/>
          </a:p>
          <a:p>
            <a:pPr indent="0" marL="0">
              <a:lnSpc>
                <a:spcPts val="2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Automate PDF salary slip generation for HR downloads.</a:t>
            </a:r>
            <a:endParaRPr lang="en-US" sz="1300" dirty="0"/>
          </a:p>
          <a:p>
            <a:pPr indent="0" marL="0">
              <a:lnSpc>
                <a:spcPts val="2000"/>
              </a:lnSpc>
              <a:buNone/>
            </a:pPr>
            <a:endParaRPr lang="en-US" sz="1300" dirty="0"/>
          </a:p>
          <a:p>
            <a:pPr indent="0" marL="0">
              <a:lnSpc>
                <a:spcPts val="2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Notification Alerts:</a:t>
            </a:r>
            <a:endParaRPr lang="en-US" sz="1300" dirty="0"/>
          </a:p>
          <a:p>
            <a:pPr indent="0" marL="0">
              <a:lnSpc>
                <a:spcPts val="2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Integrate Slack/Teams alerts for leave approval events.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4389120" y="1645920"/>
            <a:ext cx="3291840" cy="3840480"/>
          </a:xfrm>
          <a:prstGeom prst="roundRect">
            <a:avLst/>
          </a:prstGeom>
          <a:solidFill>
            <a:srgbClr val="0F172A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72000" y="1920240"/>
            <a:ext cx="2926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6B6D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📈 Phase 2 (Q4 2026)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4572000" y="2377440"/>
            <a:ext cx="2926080" cy="2926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Advanced Analytics:</a:t>
            </a:r>
            <a:endParaRPr lang="en-US" sz="1300" dirty="0"/>
          </a:p>
          <a:p>
            <a:pPr indent="0" marL="0">
              <a:lnSpc>
                <a:spcPts val="2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Add predictive staffing filters and department cost models.</a:t>
            </a:r>
            <a:endParaRPr lang="en-US" sz="1300" dirty="0"/>
          </a:p>
          <a:p>
            <a:pPr indent="0" marL="0">
              <a:lnSpc>
                <a:spcPts val="2000"/>
              </a:lnSpc>
              <a:buNone/>
            </a:pPr>
            <a:endParaRPr lang="en-US" sz="1300" dirty="0"/>
          </a:p>
          <a:p>
            <a:pPr indent="0" marL="0">
              <a:lnSpc>
                <a:spcPts val="2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Mobile Friendly App:</a:t>
            </a:r>
            <a:endParaRPr lang="en-US" sz="1300" dirty="0"/>
          </a:p>
          <a:p>
            <a:pPr indent="0" marL="0">
              <a:lnSpc>
                <a:spcPts val="2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Design customized views for field employees.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8046720" y="1645920"/>
            <a:ext cx="3291840" cy="3840480"/>
          </a:xfrm>
          <a:prstGeom prst="roundRect">
            <a:avLst/>
          </a:prstGeom>
          <a:solidFill>
            <a:srgbClr val="0F172A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229600" y="1920240"/>
            <a:ext cx="2926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6B6D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🚀 Phase 3 (2027)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8229600" y="2377440"/>
            <a:ext cx="2926080" cy="2926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Hardware Integrations:</a:t>
            </a:r>
            <a:endParaRPr lang="en-US" sz="1300" dirty="0"/>
          </a:p>
          <a:p>
            <a:pPr indent="0" marL="0">
              <a:lnSpc>
                <a:spcPts val="2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Integrate physical scanner geofences for automated office clock-ins.</a:t>
            </a:r>
            <a:endParaRPr lang="en-US" sz="1300" dirty="0"/>
          </a:p>
          <a:p>
            <a:pPr indent="0" marL="0">
              <a:lnSpc>
                <a:spcPts val="2000"/>
              </a:lnSpc>
              <a:buNone/>
            </a:pPr>
            <a:endParaRPr lang="en-US" sz="1300" dirty="0"/>
          </a:p>
          <a:p>
            <a:pPr indent="0" marL="0">
              <a:lnSpc>
                <a:spcPts val="2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Automated Backups:</a:t>
            </a:r>
            <a:endParaRPr lang="en-US" sz="1300" dirty="0"/>
          </a:p>
          <a:p>
            <a:pPr indent="0" marL="0">
              <a:lnSpc>
                <a:spcPts val="2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Set up cron jobs to run hourly DB backups to secure vaults.</a:t>
            </a:r>
            <a:endParaRPr lang="en-US" sz="13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6091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37160"/>
          </a:xfrm>
          <a:prstGeom prst="rect">
            <a:avLst/>
          </a:prstGeom>
          <a:solidFill>
            <a:srgbClr val="8B5CF6"/>
          </a:solidFill>
          <a:ln/>
        </p:spPr>
      </p:sp>
      <p:sp>
        <p:nvSpPr>
          <p:cNvPr id="3" name="Text 1"/>
          <p:cNvSpPr/>
          <p:nvPr/>
        </p:nvSpPr>
        <p:spPr>
          <a:xfrm>
            <a:off x="914400" y="1645920"/>
            <a:ext cx="10058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THANK YOU</a:t>
            </a:r>
            <a:endParaRPr lang="en-US" sz="5400" dirty="0"/>
          </a:p>
        </p:txBody>
      </p:sp>
      <p:sp>
        <p:nvSpPr>
          <p:cNvPr id="4" name="Text 2"/>
          <p:cNvSpPr/>
          <p:nvPr/>
        </p:nvSpPr>
        <p:spPr>
          <a:xfrm>
            <a:off x="914400" y="256032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6B6D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i-SOFTZONE Enterprise Employee Portal Handover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4114800" y="3291840"/>
            <a:ext cx="3931920" cy="18288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6" name="Text 4"/>
          <p:cNvSpPr/>
          <p:nvPr/>
        </p:nvSpPr>
        <p:spPr>
          <a:xfrm>
            <a:off x="914400" y="3657600"/>
            <a:ext cx="100584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2200"/>
              </a:lnSpc>
              <a:buNone/>
            </a:pPr>
            <a:r>
              <a:rPr lang="en-US" sz="14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Project Status: Deployment Complete &amp; Database Seeded</a:t>
            </a:r>
            <a:endParaRPr lang="en-US" sz="1400" dirty="0"/>
          </a:p>
          <a:p>
            <a:pPr algn="ctr" indent="0" marL="0">
              <a:lnSpc>
                <a:spcPts val="2200"/>
              </a:lnSpc>
              <a:buNone/>
            </a:pPr>
            <a:r>
              <a:rPr lang="en-US" sz="14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Portal Live: https://i-soft-zone-project-1.vercel.app</a:t>
            </a:r>
            <a:endParaRPr lang="en-US" sz="1400" dirty="0"/>
          </a:p>
          <a:p>
            <a:pPr algn="ctr" indent="0" marL="0">
              <a:lnSpc>
                <a:spcPts val="2200"/>
              </a:lnSpc>
              <a:buNone/>
            </a:pPr>
            <a:r>
              <a:rPr lang="en-US" sz="14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API Live: https://project-mcz5.onrender.com</a:t>
            </a:r>
            <a:endParaRPr lang="en-US" sz="1400" dirty="0"/>
          </a:p>
          <a:p>
            <a:pPr algn="ctr" indent="0" marL="0">
              <a:lnSpc>
                <a:spcPts val="2200"/>
              </a:lnSpc>
              <a:buNone/>
            </a:pPr>
            <a:endParaRPr lang="en-US" sz="1400" dirty="0"/>
          </a:p>
          <a:p>
            <a:pPr algn="ctr" indent="0" marL="0">
              <a:lnSpc>
                <a:spcPts val="2200"/>
              </a:lnSpc>
              <a:buNone/>
            </a:pPr>
            <a:r>
              <a:rPr lang="en-US" sz="14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Presenter: Rishi Garg (Engineering Lead)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2026-06-12T10:23:02Z</dcterms:created>
  <dcterms:modified xsi:type="dcterms:W3CDTF">2026-06-12T10:23:02Z</dcterms:modified>
</cp:coreProperties>
</file>